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Vigil is an AML detection agent over 5.08M synthetic transactions. The point is adaptive planning: the same agent runs a different tool chain per question, and shows which tools it ran and which it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is that nothing here is hand-waved: rule weights are shrunk by sample size, the blend constants were searched against a stated objective, and the risk tiers were validated on a held-out labelled sample with the limits reported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548640" y="457200"/>
            <a:ext cx="5486400" cy="749808"/>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vigil</a:t>
            </a:r>
            <a:endParaRPr lang="en-US" sz="4400" dirty="0"/>
          </a:p>
        </p:txBody>
      </p:sp>
      <p:sp>
        <p:nvSpPr>
          <p:cNvPr id="3" name="Text 1"/>
          <p:cNvSpPr/>
          <p:nvPr/>
        </p:nvSpPr>
        <p:spPr>
          <a:xfrm>
            <a:off x="548640" y="1243584"/>
            <a:ext cx="7863840" cy="3657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An AML detection agent, not a fixed pipeline</a:t>
            </a:r>
            <a:endParaRPr lang="en-US" sz="1800" dirty="0"/>
          </a:p>
        </p:txBody>
      </p:sp>
      <p:sp>
        <p:nvSpPr>
          <p:cNvPr id="4" name="Text 2"/>
          <p:cNvSpPr/>
          <p:nvPr/>
        </p:nvSpPr>
        <p:spPr>
          <a:xfrm>
            <a:off x="548640" y="1682496"/>
            <a:ext cx="8138160" cy="749808"/>
          </a:xfrm>
          <a:prstGeom prst="rect">
            <a:avLst/>
          </a:prstGeom>
          <a:noFill/>
          <a:ln/>
        </p:spPr>
        <p:txBody>
          <a:bodyPr wrap="square" lIns="0" tIns="0" rIns="0" bIns="0" rtlCol="0" anchor="ctr"/>
          <a:lstStyle/>
          <a:p>
            <a:pPr indent="0" marL="0">
              <a:lnSpc>
                <a:spcPts val="2000"/>
              </a:lnSpc>
              <a:buNone/>
            </a:pPr>
            <a:r>
              <a:rPr lang="en-US" sz="1350" dirty="0">
                <a:solidFill>
                  <a:srgbClr val="8A9BB8"/>
                </a:solidFill>
                <a:latin typeface="Calibri" pitchFamily="34" charset="0"/>
                <a:ea typeface="Calibri" pitchFamily="34" charset="-122"/>
                <a:cs typeface="Calibri" pitchFamily="34" charset="-120"/>
              </a:rPr>
              <a:t>Compliance analysts ask in plain English. The agent chooses which tools to run for that question, scores the accounts involved, explains each finding from the rule that fired, and records what a human decided.</a:t>
            </a:r>
            <a:endParaRPr lang="en-US" sz="1350" dirty="0"/>
          </a:p>
        </p:txBody>
      </p:sp>
      <p:sp>
        <p:nvSpPr>
          <p:cNvPr id="5" name="Text 3"/>
          <p:cNvSpPr/>
          <p:nvPr/>
        </p:nvSpPr>
        <p:spPr>
          <a:xfrm>
            <a:off x="8458200" y="512064"/>
            <a:ext cx="1051560" cy="457200"/>
          </a:xfrm>
          <a:prstGeom prst="rect">
            <a:avLst/>
          </a:prstGeom>
          <a:noFill/>
          <a:ln/>
        </p:spPr>
        <p:txBody>
          <a:bodyPr wrap="square" lIns="0" tIns="0" rIns="0" bIns="0" rtlCol="0" anchor="ctr"/>
          <a:lstStyle/>
          <a:p>
            <a:pPr algn="ctr" indent="0" marL="0">
              <a:buNone/>
            </a:pPr>
            <a:r>
              <a:rPr lang="en-US" sz="2400" b="1" dirty="0">
                <a:solidFill>
                  <a:srgbClr val="CADCFC"/>
                </a:solidFill>
                <a:latin typeface="Cambria" pitchFamily="34" charset="0"/>
                <a:ea typeface="Cambria" pitchFamily="34" charset="-122"/>
                <a:cs typeface="Cambria" pitchFamily="34" charset="-120"/>
              </a:rPr>
              <a:t>5.08M</a:t>
            </a:r>
            <a:endParaRPr lang="en-US" sz="2400" dirty="0"/>
          </a:p>
        </p:txBody>
      </p:sp>
      <p:sp>
        <p:nvSpPr>
          <p:cNvPr id="6" name="Text 4"/>
          <p:cNvSpPr/>
          <p:nvPr/>
        </p:nvSpPr>
        <p:spPr>
          <a:xfrm>
            <a:off x="8458200" y="969264"/>
            <a:ext cx="1051560" cy="457200"/>
          </a:xfrm>
          <a:prstGeom prst="rect">
            <a:avLst/>
          </a:prstGeom>
          <a:noFill/>
          <a:ln/>
        </p:spPr>
        <p:txBody>
          <a:bodyPr wrap="square" lIns="0" tIns="0" rIns="0" bIns="0" rtlCol="0" anchor="ctr"/>
          <a:lstStyle/>
          <a:p>
            <a:pPr algn="ctr" indent="0" marL="0">
              <a:buNone/>
            </a:pPr>
            <a:r>
              <a:rPr lang="en-US" sz="900" dirty="0">
                <a:solidFill>
                  <a:srgbClr val="8A9BB8"/>
                </a:solidFill>
                <a:latin typeface="Calibri" pitchFamily="34" charset="0"/>
                <a:ea typeface="Calibri" pitchFamily="34" charset="-122"/>
                <a:cs typeface="Calibri" pitchFamily="34" charset="-120"/>
              </a:rPr>
              <a:t>transactions</a:t>
            </a:r>
            <a:endParaRPr lang="en-US" sz="900" dirty="0"/>
          </a:p>
        </p:txBody>
      </p:sp>
      <p:sp>
        <p:nvSpPr>
          <p:cNvPr id="7" name="Text 5"/>
          <p:cNvSpPr/>
          <p:nvPr/>
        </p:nvSpPr>
        <p:spPr>
          <a:xfrm>
            <a:off x="9509760" y="512064"/>
            <a:ext cx="1051560" cy="457200"/>
          </a:xfrm>
          <a:prstGeom prst="rect">
            <a:avLst/>
          </a:prstGeom>
          <a:noFill/>
          <a:ln/>
        </p:spPr>
        <p:txBody>
          <a:bodyPr wrap="square" lIns="0" tIns="0" rIns="0" bIns="0" rtlCol="0" anchor="ctr"/>
          <a:lstStyle/>
          <a:p>
            <a:pPr algn="ctr" indent="0" marL="0">
              <a:buNone/>
            </a:pPr>
            <a:r>
              <a:rPr lang="en-US" sz="2400" b="1" dirty="0">
                <a:solidFill>
                  <a:srgbClr val="CADCFC"/>
                </a:solidFill>
                <a:latin typeface="Cambria" pitchFamily="34" charset="0"/>
                <a:ea typeface="Cambria" pitchFamily="34" charset="-122"/>
                <a:cs typeface="Cambria" pitchFamily="34" charset="-120"/>
              </a:rPr>
              <a:t>8</a:t>
            </a:r>
            <a:endParaRPr lang="en-US" sz="2400" dirty="0"/>
          </a:p>
        </p:txBody>
      </p:sp>
      <p:sp>
        <p:nvSpPr>
          <p:cNvPr id="8" name="Text 6"/>
          <p:cNvSpPr/>
          <p:nvPr/>
        </p:nvSpPr>
        <p:spPr>
          <a:xfrm>
            <a:off x="9509760" y="969264"/>
            <a:ext cx="1051560" cy="457200"/>
          </a:xfrm>
          <a:prstGeom prst="rect">
            <a:avLst/>
          </a:prstGeom>
          <a:noFill/>
          <a:ln/>
        </p:spPr>
        <p:txBody>
          <a:bodyPr wrap="square" lIns="0" tIns="0" rIns="0" bIns="0" rtlCol="0" anchor="ctr"/>
          <a:lstStyle/>
          <a:p>
            <a:pPr algn="ctr" indent="0" marL="0">
              <a:buNone/>
            </a:pPr>
            <a:r>
              <a:rPr lang="en-US" sz="900" dirty="0">
                <a:solidFill>
                  <a:srgbClr val="8A9BB8"/>
                </a:solidFill>
                <a:latin typeface="Calibri" pitchFamily="34" charset="0"/>
                <a:ea typeface="Calibri" pitchFamily="34" charset="-122"/>
                <a:cs typeface="Calibri" pitchFamily="34" charset="-120"/>
              </a:rPr>
              <a:t>laundering motifs</a:t>
            </a:r>
            <a:endParaRPr lang="en-US" sz="900" dirty="0"/>
          </a:p>
        </p:txBody>
      </p:sp>
      <p:sp>
        <p:nvSpPr>
          <p:cNvPr id="9" name="Text 7"/>
          <p:cNvSpPr/>
          <p:nvPr/>
        </p:nvSpPr>
        <p:spPr>
          <a:xfrm>
            <a:off x="10561320" y="512064"/>
            <a:ext cx="1051560" cy="457200"/>
          </a:xfrm>
          <a:prstGeom prst="rect">
            <a:avLst/>
          </a:prstGeom>
          <a:noFill/>
          <a:ln/>
        </p:spPr>
        <p:txBody>
          <a:bodyPr wrap="square" lIns="0" tIns="0" rIns="0" bIns="0" rtlCol="0" anchor="ctr"/>
          <a:lstStyle/>
          <a:p>
            <a:pPr algn="ctr" indent="0" marL="0">
              <a:buNone/>
            </a:pPr>
            <a:r>
              <a:rPr lang="en-US" sz="2400" b="1" dirty="0">
                <a:solidFill>
                  <a:srgbClr val="CADCFC"/>
                </a:solidFill>
                <a:latin typeface="Cambria" pitchFamily="34" charset="0"/>
                <a:ea typeface="Cambria" pitchFamily="34" charset="-122"/>
                <a:cs typeface="Cambria" pitchFamily="34" charset="-120"/>
              </a:rPr>
              <a:t>433</a:t>
            </a:r>
            <a:endParaRPr lang="en-US" sz="2400" dirty="0"/>
          </a:p>
        </p:txBody>
      </p:sp>
      <p:sp>
        <p:nvSpPr>
          <p:cNvPr id="10" name="Text 8"/>
          <p:cNvSpPr/>
          <p:nvPr/>
        </p:nvSpPr>
        <p:spPr>
          <a:xfrm>
            <a:off x="10561320" y="969264"/>
            <a:ext cx="1051560" cy="457200"/>
          </a:xfrm>
          <a:prstGeom prst="rect">
            <a:avLst/>
          </a:prstGeom>
          <a:noFill/>
          <a:ln/>
        </p:spPr>
        <p:txBody>
          <a:bodyPr wrap="square" lIns="0" tIns="0" rIns="0" bIns="0" rtlCol="0" anchor="ctr"/>
          <a:lstStyle/>
          <a:p>
            <a:pPr algn="ctr" indent="0" marL="0">
              <a:buNone/>
            </a:pPr>
            <a:r>
              <a:rPr lang="en-US" sz="900" dirty="0">
                <a:solidFill>
                  <a:srgbClr val="8A9BB8"/>
                </a:solidFill>
                <a:latin typeface="Calibri" pitchFamily="34" charset="0"/>
                <a:ea typeface="Calibri" pitchFamily="34" charset="-122"/>
                <a:cs typeface="Calibri" pitchFamily="34" charset="-120"/>
              </a:rPr>
              <a:t>automated tests</a:t>
            </a:r>
            <a:endParaRPr lang="en-US" sz="900" dirty="0"/>
          </a:p>
        </p:txBody>
      </p:sp>
      <p:sp>
        <p:nvSpPr>
          <p:cNvPr id="11" name="Text 9"/>
          <p:cNvSpPr/>
          <p:nvPr/>
        </p:nvSpPr>
        <p:spPr>
          <a:xfrm>
            <a:off x="548640" y="2487168"/>
            <a:ext cx="3657600" cy="274320"/>
          </a:xfrm>
          <a:prstGeom prst="rect">
            <a:avLst/>
          </a:prstGeom>
          <a:noFill/>
          <a:ln/>
        </p:spPr>
        <p:txBody>
          <a:bodyPr wrap="square" lIns="0" tIns="0" rIns="0" bIns="0" rtlCol="0" anchor="ctr"/>
          <a:lstStyle/>
          <a:p>
            <a:pPr indent="0" marL="0">
              <a:buNone/>
            </a:pPr>
            <a:r>
              <a:rPr lang="en-US" sz="1100" b="1" spc="200" kern="0" dirty="0">
                <a:solidFill>
                  <a:srgbClr val="8A9BB8"/>
                </a:solidFill>
                <a:latin typeface="Calibri" pitchFamily="34" charset="0"/>
                <a:ea typeface="Calibri" pitchFamily="34" charset="-122"/>
                <a:cs typeface="Calibri" pitchFamily="34" charset="-120"/>
              </a:rPr>
              <a:t>ARCHITECTURE</a:t>
            </a:r>
            <a:endParaRPr lang="en-US" sz="1100" dirty="0"/>
          </a:p>
        </p:txBody>
      </p:sp>
      <p:sp>
        <p:nvSpPr>
          <p:cNvPr id="12" name="Shape 10"/>
          <p:cNvSpPr/>
          <p:nvPr/>
        </p:nvSpPr>
        <p:spPr>
          <a:xfrm>
            <a:off x="548640" y="2852928"/>
            <a:ext cx="2029968" cy="1371600"/>
          </a:xfrm>
          <a:prstGeom prst="roundRect">
            <a:avLst>
              <a:gd name="adj" fmla="val 5333"/>
            </a:avLst>
          </a:prstGeom>
          <a:solidFill>
            <a:srgbClr val="1A2438"/>
          </a:solidFill>
          <a:ln w="12700">
            <a:solidFill>
              <a:srgbClr val="333333"/>
            </a:solidFill>
            <a:prstDash val="solid"/>
          </a:ln>
        </p:spPr>
      </p:sp>
      <p:sp>
        <p:nvSpPr>
          <p:cNvPr id="13" name="Text 11"/>
          <p:cNvSpPr/>
          <p:nvPr/>
        </p:nvSpPr>
        <p:spPr>
          <a:xfrm>
            <a:off x="694944" y="2980944"/>
            <a:ext cx="1737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React + Vite</a:t>
            </a:r>
            <a:endParaRPr lang="en-US" sz="1300" dirty="0"/>
          </a:p>
        </p:txBody>
      </p:sp>
      <p:sp>
        <p:nvSpPr>
          <p:cNvPr id="14" name="Text 12"/>
          <p:cNvSpPr/>
          <p:nvPr/>
        </p:nvSpPr>
        <p:spPr>
          <a:xfrm>
            <a:off x="694944" y="3310128"/>
            <a:ext cx="1737360" cy="77724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chat · escalations</a:t>
            </a:r>
            <a:endParaRPr lang="en-US" sz="1000" dirty="0"/>
          </a:p>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 dashboard</a:t>
            </a:r>
            <a:endParaRPr lang="en-US" sz="1000" dirty="0"/>
          </a:p>
        </p:txBody>
      </p:sp>
      <p:sp>
        <p:nvSpPr>
          <p:cNvPr id="15" name="Text 13"/>
          <p:cNvSpPr/>
          <p:nvPr/>
        </p:nvSpPr>
        <p:spPr>
          <a:xfrm>
            <a:off x="2587752" y="3310128"/>
            <a:ext cx="201168" cy="36576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2779776" y="2852928"/>
            <a:ext cx="2029968" cy="1371600"/>
          </a:xfrm>
          <a:prstGeom prst="roundRect">
            <a:avLst>
              <a:gd name="adj" fmla="val 5333"/>
            </a:avLst>
          </a:prstGeom>
          <a:solidFill>
            <a:srgbClr val="1A2438"/>
          </a:solidFill>
          <a:ln w="12700">
            <a:solidFill>
              <a:srgbClr val="333333"/>
            </a:solidFill>
            <a:prstDash val="solid"/>
          </a:ln>
        </p:spPr>
      </p:sp>
      <p:sp>
        <p:nvSpPr>
          <p:cNvPr id="17" name="Text 15"/>
          <p:cNvSpPr/>
          <p:nvPr/>
        </p:nvSpPr>
        <p:spPr>
          <a:xfrm>
            <a:off x="2926080" y="2980944"/>
            <a:ext cx="1737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FastAPI</a:t>
            </a:r>
            <a:endParaRPr lang="en-US" sz="1300" dirty="0"/>
          </a:p>
        </p:txBody>
      </p:sp>
      <p:sp>
        <p:nvSpPr>
          <p:cNvPr id="18" name="Text 16"/>
          <p:cNvSpPr/>
          <p:nvPr/>
        </p:nvSpPr>
        <p:spPr>
          <a:xfrm>
            <a:off x="2926080" y="3310128"/>
            <a:ext cx="1737360" cy="77724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routes, SSE stream,</a:t>
            </a:r>
            <a:endParaRPr lang="en-US" sz="1000" dirty="0"/>
          </a:p>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SQLite audit trail</a:t>
            </a:r>
            <a:endParaRPr lang="en-US" sz="1000" dirty="0"/>
          </a:p>
        </p:txBody>
      </p:sp>
      <p:sp>
        <p:nvSpPr>
          <p:cNvPr id="19" name="Text 17"/>
          <p:cNvSpPr/>
          <p:nvPr/>
        </p:nvSpPr>
        <p:spPr>
          <a:xfrm>
            <a:off x="4818888" y="3310128"/>
            <a:ext cx="201168" cy="36576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5010912" y="2852928"/>
            <a:ext cx="2029968" cy="1371600"/>
          </a:xfrm>
          <a:prstGeom prst="roundRect">
            <a:avLst>
              <a:gd name="adj" fmla="val 5333"/>
            </a:avLst>
          </a:prstGeom>
          <a:solidFill>
            <a:srgbClr val="1A2438"/>
          </a:solidFill>
          <a:ln w="12700">
            <a:solidFill>
              <a:srgbClr val="333333"/>
            </a:solidFill>
            <a:prstDash val="solid"/>
          </a:ln>
        </p:spPr>
      </p:sp>
      <p:sp>
        <p:nvSpPr>
          <p:cNvPr id="21" name="Text 19"/>
          <p:cNvSpPr/>
          <p:nvPr/>
        </p:nvSpPr>
        <p:spPr>
          <a:xfrm>
            <a:off x="5157216" y="2980944"/>
            <a:ext cx="1737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loop</a:t>
            </a:r>
            <a:endParaRPr lang="en-US" sz="1300" dirty="0"/>
          </a:p>
        </p:txBody>
      </p:sp>
      <p:sp>
        <p:nvSpPr>
          <p:cNvPr id="22" name="Text 20"/>
          <p:cNvSpPr/>
          <p:nvPr/>
        </p:nvSpPr>
        <p:spPr>
          <a:xfrm>
            <a:off x="5157216" y="3310128"/>
            <a:ext cx="1737360" cy="77724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hand-rolled, provider-</a:t>
            </a:r>
            <a:endParaRPr lang="en-US" sz="1000" dirty="0"/>
          </a:p>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agnostic tool calling</a:t>
            </a:r>
            <a:endParaRPr lang="en-US" sz="1000" dirty="0"/>
          </a:p>
        </p:txBody>
      </p:sp>
      <p:sp>
        <p:nvSpPr>
          <p:cNvPr id="23" name="Text 21"/>
          <p:cNvSpPr/>
          <p:nvPr/>
        </p:nvSpPr>
        <p:spPr>
          <a:xfrm>
            <a:off x="7050024" y="3310128"/>
            <a:ext cx="201168" cy="36576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7242048" y="2852928"/>
            <a:ext cx="2029968" cy="1371600"/>
          </a:xfrm>
          <a:prstGeom prst="roundRect">
            <a:avLst>
              <a:gd name="adj" fmla="val 5333"/>
            </a:avLst>
          </a:prstGeom>
          <a:solidFill>
            <a:srgbClr val="1A2438"/>
          </a:solidFill>
          <a:ln w="12700">
            <a:solidFill>
              <a:srgbClr val="333333"/>
            </a:solidFill>
            <a:prstDash val="solid"/>
          </a:ln>
        </p:spPr>
      </p:sp>
      <p:sp>
        <p:nvSpPr>
          <p:cNvPr id="25" name="Text 23"/>
          <p:cNvSpPr/>
          <p:nvPr/>
        </p:nvSpPr>
        <p:spPr>
          <a:xfrm>
            <a:off x="7388352" y="2980944"/>
            <a:ext cx="1737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ML tools</a:t>
            </a:r>
            <a:endParaRPr lang="en-US" sz="1300" dirty="0"/>
          </a:p>
        </p:txBody>
      </p:sp>
      <p:sp>
        <p:nvSpPr>
          <p:cNvPr id="26" name="Text 24"/>
          <p:cNvSpPr/>
          <p:nvPr/>
        </p:nvSpPr>
        <p:spPr>
          <a:xfrm>
            <a:off x="7388352" y="3310128"/>
            <a:ext cx="1737360" cy="77724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eda · feature_eng</a:t>
            </a:r>
            <a:endParaRPr lang="en-US" sz="1000" dirty="0"/>
          </a:p>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anomaly · risk · explain</a:t>
            </a:r>
            <a:endParaRPr lang="en-US" sz="1000" dirty="0"/>
          </a:p>
        </p:txBody>
      </p:sp>
      <p:sp>
        <p:nvSpPr>
          <p:cNvPr id="27" name="Text 25"/>
          <p:cNvSpPr/>
          <p:nvPr/>
        </p:nvSpPr>
        <p:spPr>
          <a:xfrm>
            <a:off x="9281160" y="3310128"/>
            <a:ext cx="201168" cy="36576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473184" y="2852928"/>
            <a:ext cx="2029968" cy="1371600"/>
          </a:xfrm>
          <a:prstGeom prst="roundRect">
            <a:avLst>
              <a:gd name="adj" fmla="val 5333"/>
            </a:avLst>
          </a:prstGeom>
          <a:solidFill>
            <a:srgbClr val="1A2438"/>
          </a:solidFill>
          <a:ln w="12700">
            <a:solidFill>
              <a:srgbClr val="333333"/>
            </a:solidFill>
            <a:prstDash val="solid"/>
          </a:ln>
        </p:spPr>
      </p:sp>
      <p:sp>
        <p:nvSpPr>
          <p:cNvPr id="29" name="Text 27"/>
          <p:cNvSpPr/>
          <p:nvPr/>
        </p:nvSpPr>
        <p:spPr>
          <a:xfrm>
            <a:off x="9619488" y="2980944"/>
            <a:ext cx="1737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DuckDB + sklearn</a:t>
            </a:r>
            <a:endParaRPr lang="en-US" sz="1300" dirty="0"/>
          </a:p>
        </p:txBody>
      </p:sp>
      <p:sp>
        <p:nvSpPr>
          <p:cNvPr id="30" name="Text 28"/>
          <p:cNvSpPr/>
          <p:nvPr/>
        </p:nvSpPr>
        <p:spPr>
          <a:xfrm>
            <a:off x="9619488" y="3310128"/>
            <a:ext cx="1737360" cy="77724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Parquet over 5.08M rows,</a:t>
            </a:r>
            <a:endParaRPr lang="en-US" sz="1000" dirty="0"/>
          </a:p>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fitted detectors</a:t>
            </a:r>
            <a:endParaRPr lang="en-US" sz="1000" dirty="0"/>
          </a:p>
        </p:txBody>
      </p:sp>
      <p:sp>
        <p:nvSpPr>
          <p:cNvPr id="31" name="Text 29"/>
          <p:cNvSpPr/>
          <p:nvPr/>
        </p:nvSpPr>
        <p:spPr>
          <a:xfrm>
            <a:off x="548640" y="4526280"/>
            <a:ext cx="5486400" cy="274320"/>
          </a:xfrm>
          <a:prstGeom prst="rect">
            <a:avLst/>
          </a:prstGeom>
          <a:noFill/>
          <a:ln/>
        </p:spPr>
        <p:txBody>
          <a:bodyPr wrap="square" lIns="0" tIns="0" rIns="0" bIns="0" rtlCol="0" anchor="ctr"/>
          <a:lstStyle/>
          <a:p>
            <a:pPr indent="0" marL="0">
              <a:buNone/>
            </a:pPr>
            <a:r>
              <a:rPr lang="en-US" sz="1100" b="1" spc="200" kern="0" dirty="0">
                <a:solidFill>
                  <a:srgbClr val="8A9BB8"/>
                </a:solidFill>
                <a:latin typeface="Calibri" pitchFamily="34" charset="0"/>
                <a:ea typeface="Calibri" pitchFamily="34" charset="-122"/>
                <a:cs typeface="Calibri" pitchFamily="34" charset="-120"/>
              </a:rPr>
              <a:t>WHAT THE AGENT DOES PER QUERY</a:t>
            </a:r>
            <a:endParaRPr lang="en-US" sz="1100" dirty="0"/>
          </a:p>
        </p:txBody>
      </p:sp>
      <p:sp>
        <p:nvSpPr>
          <p:cNvPr id="32" name="Shape 30"/>
          <p:cNvSpPr/>
          <p:nvPr/>
        </p:nvSpPr>
        <p:spPr>
          <a:xfrm>
            <a:off x="548640" y="4892040"/>
            <a:ext cx="310896" cy="310896"/>
          </a:xfrm>
          <a:prstGeom prst="ellipse">
            <a:avLst/>
          </a:prstGeom>
          <a:solidFill>
            <a:srgbClr val="E4645C"/>
          </a:solidFill>
          <a:ln w="12700">
            <a:solidFill>
              <a:srgbClr val="333333"/>
            </a:solidFill>
            <a:prstDash val="solid"/>
          </a:ln>
        </p:spPr>
      </p:sp>
      <p:sp>
        <p:nvSpPr>
          <p:cNvPr id="33" name="Text 31"/>
          <p:cNvSpPr/>
          <p:nvPr/>
        </p:nvSpPr>
        <p:spPr>
          <a:xfrm>
            <a:off x="548640" y="4892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Text 32"/>
          <p:cNvSpPr/>
          <p:nvPr/>
        </p:nvSpPr>
        <p:spPr>
          <a:xfrm>
            <a:off x="950976" y="4882896"/>
            <a:ext cx="2240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Parse intent</a:t>
            </a:r>
            <a:endParaRPr lang="en-US" sz="1300" dirty="0"/>
          </a:p>
        </p:txBody>
      </p:sp>
      <p:sp>
        <p:nvSpPr>
          <p:cNvPr id="35" name="Text 33"/>
          <p:cNvSpPr/>
          <p:nvPr/>
        </p:nvSpPr>
        <p:spPr>
          <a:xfrm>
            <a:off x="950976" y="5157216"/>
            <a:ext cx="2286000" cy="566928"/>
          </a:xfrm>
          <a:prstGeom prst="rect">
            <a:avLst/>
          </a:prstGeom>
          <a:noFill/>
          <a:ln/>
        </p:spPr>
        <p:txBody>
          <a:bodyPr wrap="square" lIns="0" tIns="0" rIns="0" bIns="0" rtlCol="0" anchor="ctr"/>
          <a:lstStyle/>
          <a:p>
            <a:pPr indent="0" marL="0">
              <a:lnSpc>
                <a:spcPts val="1200"/>
              </a:lnSpc>
              <a:buNone/>
            </a:pPr>
            <a:r>
              <a:rPr lang="en-US" sz="1000" dirty="0">
                <a:solidFill>
                  <a:srgbClr val="8A9BB8"/>
                </a:solidFill>
                <a:latin typeface="Calibri" pitchFamily="34" charset="0"/>
                <a:ea typeface="Calibri" pitchFamily="34" charset="-122"/>
                <a:cs typeface="Calibri" pitchFamily="34" charset="-120"/>
              </a:rPr>
              <a:t>entity lookup, aggregate, or pattern search</a:t>
            </a:r>
            <a:endParaRPr lang="en-US" sz="1000" dirty="0"/>
          </a:p>
        </p:txBody>
      </p:sp>
      <p:sp>
        <p:nvSpPr>
          <p:cNvPr id="36" name="Shape 34"/>
          <p:cNvSpPr/>
          <p:nvPr/>
        </p:nvSpPr>
        <p:spPr>
          <a:xfrm>
            <a:off x="3319272" y="4892040"/>
            <a:ext cx="310896" cy="310896"/>
          </a:xfrm>
          <a:prstGeom prst="ellipse">
            <a:avLst/>
          </a:prstGeom>
          <a:solidFill>
            <a:srgbClr val="E4645C"/>
          </a:solidFill>
          <a:ln w="12700">
            <a:solidFill>
              <a:srgbClr val="333333"/>
            </a:solidFill>
            <a:prstDash val="solid"/>
          </a:ln>
        </p:spPr>
      </p:sp>
      <p:sp>
        <p:nvSpPr>
          <p:cNvPr id="37" name="Text 35"/>
          <p:cNvSpPr/>
          <p:nvPr/>
        </p:nvSpPr>
        <p:spPr>
          <a:xfrm>
            <a:off x="3319272" y="4892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8" name="Text 36"/>
          <p:cNvSpPr/>
          <p:nvPr/>
        </p:nvSpPr>
        <p:spPr>
          <a:xfrm>
            <a:off x="3721608" y="4882896"/>
            <a:ext cx="2240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Select tools</a:t>
            </a:r>
            <a:endParaRPr lang="en-US" sz="1300" dirty="0"/>
          </a:p>
        </p:txBody>
      </p:sp>
      <p:sp>
        <p:nvSpPr>
          <p:cNvPr id="39" name="Text 37"/>
          <p:cNvSpPr/>
          <p:nvPr/>
        </p:nvSpPr>
        <p:spPr>
          <a:xfrm>
            <a:off x="3721608" y="5157216"/>
            <a:ext cx="2286000" cy="566928"/>
          </a:xfrm>
          <a:prstGeom prst="rect">
            <a:avLst/>
          </a:prstGeom>
          <a:noFill/>
          <a:ln/>
        </p:spPr>
        <p:txBody>
          <a:bodyPr wrap="square" lIns="0" tIns="0" rIns="0" bIns="0" rtlCol="0" anchor="ctr"/>
          <a:lstStyle/>
          <a:p>
            <a:pPr indent="0" marL="0">
              <a:lnSpc>
                <a:spcPts val="1200"/>
              </a:lnSpc>
              <a:buNone/>
            </a:pPr>
            <a:r>
              <a:rPr lang="en-US" sz="1000" dirty="0">
                <a:solidFill>
                  <a:srgbClr val="8A9BB8"/>
                </a:solidFill>
                <a:latin typeface="Calibri" pitchFamily="34" charset="0"/>
                <a:ea typeface="Calibri" pitchFamily="34" charset="-122"/>
                <a:cs typeface="Calibri" pitchFamily="34" charset="-120"/>
              </a:rPr>
              <a:t>only the ones that question needs</a:t>
            </a:r>
            <a:endParaRPr lang="en-US" sz="1000" dirty="0"/>
          </a:p>
        </p:txBody>
      </p:sp>
      <p:sp>
        <p:nvSpPr>
          <p:cNvPr id="40" name="Shape 38"/>
          <p:cNvSpPr/>
          <p:nvPr/>
        </p:nvSpPr>
        <p:spPr>
          <a:xfrm>
            <a:off x="6089904" y="4892040"/>
            <a:ext cx="310896" cy="310896"/>
          </a:xfrm>
          <a:prstGeom prst="ellipse">
            <a:avLst/>
          </a:prstGeom>
          <a:solidFill>
            <a:srgbClr val="E4645C"/>
          </a:solidFill>
          <a:ln w="12700">
            <a:solidFill>
              <a:srgbClr val="333333"/>
            </a:solidFill>
            <a:prstDash val="solid"/>
          </a:ln>
        </p:spPr>
      </p:sp>
      <p:sp>
        <p:nvSpPr>
          <p:cNvPr id="41" name="Text 39"/>
          <p:cNvSpPr/>
          <p:nvPr/>
        </p:nvSpPr>
        <p:spPr>
          <a:xfrm>
            <a:off x="6089904" y="4892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p:nvPr/>
        </p:nvSpPr>
        <p:spPr>
          <a:xfrm>
            <a:off x="6492240" y="4882896"/>
            <a:ext cx="2240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Score + explain</a:t>
            </a:r>
            <a:endParaRPr lang="en-US" sz="1300" dirty="0"/>
          </a:p>
        </p:txBody>
      </p:sp>
      <p:sp>
        <p:nvSpPr>
          <p:cNvPr id="43" name="Text 41"/>
          <p:cNvSpPr/>
          <p:nvPr/>
        </p:nvSpPr>
        <p:spPr>
          <a:xfrm>
            <a:off x="6492240" y="5157216"/>
            <a:ext cx="2286000" cy="566928"/>
          </a:xfrm>
          <a:prstGeom prst="rect">
            <a:avLst/>
          </a:prstGeom>
          <a:noFill/>
          <a:ln/>
        </p:spPr>
        <p:txBody>
          <a:bodyPr wrap="square" lIns="0" tIns="0" rIns="0" bIns="0" rtlCol="0" anchor="ctr"/>
          <a:lstStyle/>
          <a:p>
            <a:pPr indent="0" marL="0">
              <a:lnSpc>
                <a:spcPts val="1200"/>
              </a:lnSpc>
              <a:buNone/>
            </a:pPr>
            <a:r>
              <a:rPr lang="en-US" sz="1000" dirty="0">
                <a:solidFill>
                  <a:srgbClr val="8A9BB8"/>
                </a:solidFill>
                <a:latin typeface="Calibri" pitchFamily="34" charset="0"/>
                <a:ea typeface="Calibri" pitchFamily="34" charset="-122"/>
                <a:cs typeface="Calibri" pitchFamily="34" charset="-120"/>
              </a:rPr>
              <a:t>detectors and rules, cited by name</a:t>
            </a:r>
            <a:endParaRPr lang="en-US" sz="1000" dirty="0"/>
          </a:p>
        </p:txBody>
      </p:sp>
      <p:sp>
        <p:nvSpPr>
          <p:cNvPr id="44" name="Shape 42"/>
          <p:cNvSpPr/>
          <p:nvPr/>
        </p:nvSpPr>
        <p:spPr>
          <a:xfrm>
            <a:off x="8860536" y="4892040"/>
            <a:ext cx="310896" cy="310896"/>
          </a:xfrm>
          <a:prstGeom prst="ellipse">
            <a:avLst/>
          </a:prstGeom>
          <a:solidFill>
            <a:srgbClr val="E4645C"/>
          </a:solidFill>
          <a:ln w="12700">
            <a:solidFill>
              <a:srgbClr val="333333"/>
            </a:solidFill>
            <a:prstDash val="solid"/>
          </a:ln>
        </p:spPr>
      </p:sp>
      <p:sp>
        <p:nvSpPr>
          <p:cNvPr id="45" name="Text 43"/>
          <p:cNvSpPr/>
          <p:nvPr/>
        </p:nvSpPr>
        <p:spPr>
          <a:xfrm>
            <a:off x="8860536" y="4892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6" name="Text 44"/>
          <p:cNvSpPr/>
          <p:nvPr/>
        </p:nvSpPr>
        <p:spPr>
          <a:xfrm>
            <a:off x="9262872" y="4882896"/>
            <a:ext cx="2240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Persist</a:t>
            </a:r>
            <a:endParaRPr lang="en-US" sz="1300" dirty="0"/>
          </a:p>
        </p:txBody>
      </p:sp>
      <p:sp>
        <p:nvSpPr>
          <p:cNvPr id="47" name="Text 45"/>
          <p:cNvSpPr/>
          <p:nvPr/>
        </p:nvSpPr>
        <p:spPr>
          <a:xfrm>
            <a:off x="9262872" y="5157216"/>
            <a:ext cx="2286000" cy="566928"/>
          </a:xfrm>
          <a:prstGeom prst="rect">
            <a:avLst/>
          </a:prstGeom>
          <a:noFill/>
          <a:ln/>
        </p:spPr>
        <p:txBody>
          <a:bodyPr wrap="square" lIns="0" tIns="0" rIns="0" bIns="0" rtlCol="0" anchor="ctr"/>
          <a:lstStyle/>
          <a:p>
            <a:pPr indent="0" marL="0">
              <a:lnSpc>
                <a:spcPts val="1200"/>
              </a:lnSpc>
              <a:buNone/>
            </a:pPr>
            <a:r>
              <a:rPr lang="en-US" sz="1000" dirty="0">
                <a:solidFill>
                  <a:srgbClr val="8A9BB8"/>
                </a:solidFill>
                <a:latin typeface="Calibri" pitchFamily="34" charset="0"/>
                <a:ea typeface="Calibri" pitchFamily="34" charset="-122"/>
                <a:cs typeface="Calibri" pitchFamily="34" charset="-120"/>
              </a:rPr>
              <a:t>agent recommends, a human escalates</a:t>
            </a:r>
            <a:endParaRPr lang="en-US" sz="1000" dirty="0"/>
          </a:p>
        </p:txBody>
      </p:sp>
      <p:sp>
        <p:nvSpPr>
          <p:cNvPr id="48" name="Text 46"/>
          <p:cNvSpPr/>
          <p:nvPr/>
        </p:nvSpPr>
        <p:spPr>
          <a:xfrm>
            <a:off x="548640" y="6053328"/>
            <a:ext cx="11064240" cy="274320"/>
          </a:xfrm>
          <a:prstGeom prst="rect">
            <a:avLst/>
          </a:prstGeom>
          <a:noFill/>
          <a:ln/>
        </p:spPr>
        <p:txBody>
          <a:bodyPr wrap="square" lIns="0" tIns="0" rIns="0" bIns="0" rtlCol="0" anchor="ctr"/>
          <a:lstStyle/>
          <a:p>
            <a:pPr indent="0" marL="0">
              <a:buNone/>
            </a:pPr>
            <a:r>
              <a:rPr lang="en-US" sz="1050" i="1" dirty="0">
                <a:solidFill>
                  <a:srgbClr val="8A9BB8"/>
                </a:solidFill>
                <a:latin typeface="Calibri" pitchFamily="34" charset="0"/>
                <a:ea typeface="Calibri" pitchFamily="34" charset="-122"/>
                <a:cs typeface="Calibri" pitchFamily="34" charset="-120"/>
              </a:rPr>
              <a:t>Provider-agnostic: LLM_PROVIDER swaps Gemini / Anthropic without touching the loop.</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548640" y="457200"/>
            <a:ext cx="731520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Measured, not asserted</a:t>
            </a:r>
            <a:endParaRPr lang="en-US" sz="3400" dirty="0"/>
          </a:p>
        </p:txBody>
      </p:sp>
      <p:sp>
        <p:nvSpPr>
          <p:cNvPr id="3" name="Text 1"/>
          <p:cNvSpPr/>
          <p:nvPr/>
        </p:nvSpPr>
        <p:spPr>
          <a:xfrm>
            <a:off x="548640" y="1060704"/>
            <a:ext cx="6766560" cy="457200"/>
          </a:xfrm>
          <a:prstGeom prst="rect">
            <a:avLst/>
          </a:prstGeom>
          <a:noFill/>
          <a:ln/>
        </p:spPr>
        <p:txBody>
          <a:bodyPr wrap="square" lIns="0" tIns="0" rIns="0" bIns="0" rtlCol="0" anchor="ctr"/>
          <a:lstStyle/>
          <a:p>
            <a:pPr indent="0" marL="0">
              <a:lnSpc>
                <a:spcPts val="1700"/>
              </a:lnSpc>
              <a:buNone/>
            </a:pPr>
            <a:r>
              <a:rPr lang="en-US" sz="1250" dirty="0">
                <a:solidFill>
                  <a:srgbClr val="8A9BB8"/>
                </a:solidFill>
                <a:latin typeface="Calibri" pitchFamily="34" charset="0"/>
                <a:ea typeface="Calibri" pitchFamily="34" charset="-122"/>
                <a:cs typeface="Calibri" pitchFamily="34" charset="-120"/>
              </a:rPr>
              <a:t>Every threshold in the risk model was fitted against pattern-file ground truth, then the output was validated end to end.</a:t>
            </a:r>
            <a:endParaRPr lang="en-US" sz="1250" dirty="0"/>
          </a:p>
        </p:txBody>
      </p:sp>
      <p:sp>
        <p:nvSpPr>
          <p:cNvPr id="4" name="Text 2"/>
          <p:cNvSpPr/>
          <p:nvPr/>
        </p:nvSpPr>
        <p:spPr>
          <a:xfrm>
            <a:off x="548640" y="1572768"/>
            <a:ext cx="5577840" cy="274320"/>
          </a:xfrm>
          <a:prstGeom prst="rect">
            <a:avLst/>
          </a:prstGeom>
          <a:noFill/>
          <a:ln/>
        </p:spPr>
        <p:txBody>
          <a:bodyPr wrap="square" lIns="0" tIns="0" rIns="0" bIns="0" rtlCol="0" anchor="ctr"/>
          <a:lstStyle/>
          <a:p>
            <a:pPr indent="0" marL="0">
              <a:buNone/>
            </a:pPr>
            <a:r>
              <a:rPr lang="en-US" sz="1050" b="1" spc="150" kern="0" dirty="0">
                <a:solidFill>
                  <a:srgbClr val="8A9BB8"/>
                </a:solidFill>
                <a:latin typeface="Calibri" pitchFamily="34" charset="0"/>
                <a:ea typeface="Calibri" pitchFamily="34" charset="-122"/>
                <a:cs typeface="Calibri" pitchFamily="34" charset="-120"/>
              </a:rPr>
              <a:t>RISK TIERS, VALIDATED ON 2,000 LABELLED ACCOUNTS</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5577840" cy="914400"/>
        </p:xfrm>
        <a:graphic>
          <a:graphicData uri="http://schemas.openxmlformats.org/drawingml/2006/table">
            <a:tbl>
              <a:tblPr/>
              <a:tblGrid>
                <a:gridCol w="1234440"/>
                <a:gridCol w="1097280"/>
                <a:gridCol w="868680"/>
                <a:gridCol w="1051560"/>
                <a:gridCol w="1325880"/>
              </a:tblGrid>
              <a:tr h="310896">
                <a:tc>
                  <a:txBody>
                    <a:bodyPr/>
                    <a:lstStyle/>
                    <a:p>
                      <a:pPr indent="0" marL="0">
                        <a:buNone/>
                      </a:pPr>
                      <a:r>
                        <a:rPr lang="en-US" sz="1000" b="1" dirty="0">
                          <a:solidFill>
                            <a:srgbClr val="8A9BB8"/>
                          </a:solidFill>
                          <a:latin typeface="Calibri" pitchFamily="34" charset="0"/>
                          <a:ea typeface="Calibri" pitchFamily="34" charset="-122"/>
                          <a:cs typeface="Calibri" pitchFamily="34" charset="-120"/>
                        </a:rPr>
                        <a:t>Tier</a:t>
                      </a:r>
                      <a:endParaRPr lang="en-US" sz="10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0E1526"/>
                    </a:solidFill>
                  </a:tcPr>
                </a:tc>
                <a:tc>
                  <a:txBody>
                    <a:bodyPr/>
                    <a:lstStyle/>
                    <a:p>
                      <a:pPr indent="0" marL="0">
                        <a:buNone/>
                      </a:pPr>
                      <a:r>
                        <a:rPr lang="en-US" sz="1000" b="1" dirty="0">
                          <a:solidFill>
                            <a:srgbClr val="8A9BB8"/>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0E1526"/>
                    </a:solidFill>
                  </a:tcPr>
                </a:tc>
                <a:tc>
                  <a:txBody>
                    <a:bodyPr/>
                    <a:lstStyle/>
                    <a:p>
                      <a:pPr indent="0" marL="0">
                        <a:buNone/>
                      </a:pPr>
                      <a:r>
                        <a:rPr lang="en-US" sz="1000" b="1" dirty="0">
                          <a:solidFill>
                            <a:srgbClr val="8A9BB8"/>
                          </a:solidFill>
                          <a:latin typeface="Calibri" pitchFamily="34" charset="0"/>
                          <a:ea typeface="Calibri" pitchFamily="34" charset="-122"/>
                          <a:cs typeface="Calibri" pitchFamily="34" charset="-120"/>
                        </a:rPr>
                        <a:t>Lift</a:t>
                      </a:r>
                      <a:endParaRPr lang="en-US" sz="10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0E1526"/>
                    </a:solidFill>
                  </a:tcPr>
                </a:tc>
                <a:tc>
                  <a:txBody>
                    <a:bodyPr/>
                    <a:lstStyle/>
                    <a:p>
                      <a:pPr indent="0" marL="0">
                        <a:buNone/>
                      </a:pPr>
                      <a:r>
                        <a:rPr lang="en-US" sz="1000" b="1" dirty="0">
                          <a:solidFill>
                            <a:srgbClr val="8A9BB8"/>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0E1526"/>
                    </a:solidFill>
                  </a:tcPr>
                </a:tc>
                <a:tc>
                  <a:txBody>
                    <a:bodyPr/>
                    <a:lstStyle/>
                    <a:p>
                      <a:pPr indent="0" marL="0">
                        <a:buNone/>
                      </a:pPr>
                      <a:r>
                        <a:rPr lang="en-US" sz="1000" b="1" dirty="0">
                          <a:solidFill>
                            <a:srgbClr val="8A9BB8"/>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0E1526"/>
                    </a:solidFill>
                  </a:tcPr>
                </a:tc>
              </a:tr>
              <a:tr h="310896">
                <a:tc>
                  <a:txBody>
                    <a:bodyPr/>
                    <a:lstStyle/>
                    <a:p>
                      <a:pPr indent="0" marL="0">
                        <a:buNone/>
                      </a:pPr>
                      <a:r>
                        <a:rPr lang="en-US" sz="1100" b="1" dirty="0">
                          <a:solidFill>
                            <a:srgbClr val="CADCFC"/>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0.1x</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MONITOR</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r>
              <a:tr h="310896">
                <a:tc>
                  <a:txBody>
                    <a:bodyPr/>
                    <a:lstStyle/>
                    <a:p>
                      <a:pPr indent="0" marL="0">
                        <a:buNone/>
                      </a:pPr>
                      <a:r>
                        <a:rPr lang="en-US" sz="1100" b="1" dirty="0">
                          <a:solidFill>
                            <a:srgbClr val="CADCFC"/>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0.9x</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31.0%</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REVIEW</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r>
              <a:tr h="310896">
                <a:tc>
                  <a:txBody>
                    <a:bodyPr/>
                    <a:lstStyle/>
                    <a:p>
                      <a:pPr indent="0" marL="0">
                        <a:buNone/>
                      </a:pPr>
                      <a:r>
                        <a:rPr lang="en-US" sz="1100" b="1" dirty="0">
                          <a:solidFill>
                            <a:srgbClr val="CADCFC"/>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2.2x</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61.5%</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REVIEW</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52032"/>
                    </a:solidFill>
                  </a:tcPr>
                </a:tc>
              </a:tr>
              <a:tr h="310896">
                <a:tc>
                  <a:txBody>
                    <a:bodyPr/>
                    <a:lstStyle/>
                    <a:p>
                      <a:pPr indent="0" marL="0">
                        <a:buNone/>
                      </a:pPr>
                      <a:r>
                        <a:rPr lang="en-US" sz="1100" b="1" dirty="0">
                          <a:solidFill>
                            <a:srgbClr val="E4645C"/>
                          </a:solidFill>
                          <a:latin typeface="Calibri" pitchFamily="34" charset="0"/>
                          <a:ea typeface="Calibri" pitchFamily="34" charset="-122"/>
                          <a:cs typeface="Calibri" pitchFamily="34" charset="-120"/>
                        </a:rPr>
                        <a:t>CRITICAL</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b="1" dirty="0">
                          <a:solidFill>
                            <a:srgbClr val="E4645C"/>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81x</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REPORT</a:t>
                      </a:r>
                      <a:endParaRPr lang="en-US" sz="1100" dirty="0">
                        <a:latin typeface="Calibri" charset="0"/>
                        <a:ea typeface="Calibri" charset="0"/>
                        <a:cs typeface="Calibri" charset="0"/>
                      </a:endParaRPr>
                    </a:p>
                  </a:txBody>
                  <a:tcPr marL="5486400" marR="5486400" marT="0" marB="0" anchor="ctr">
                    <a:lnL w="0" cap="flat" cmpd="sng" algn="ctr">
                      <a:noFill/>
                    </a:lnL>
                    <a:lnR w="0" cap="flat" cmpd="sng" algn="ctr">
                      <a:noFill/>
                    </a:lnR>
                    <a:lnT w="0" cap="flat" cmpd="sng" algn="ctr">
                      <a:noFill/>
                    </a:lnT>
                    <a:lnB w="0" cap="flat" cmpd="sng" algn="ctr">
                      <a:noFill/>
                    </a:lnB>
                    <a:solidFill>
                      <a:srgbClr val="1A2438"/>
                    </a:solidFill>
                  </a:tcPr>
                </a:tc>
              </a:tr>
            </a:tbl>
          </a:graphicData>
        </a:graphic>
      </p:graphicFrame>
      <p:sp>
        <p:nvSpPr>
          <p:cNvPr id="6" name="Text 3"/>
          <p:cNvSpPr/>
          <p:nvPr/>
        </p:nvSpPr>
        <p:spPr>
          <a:xfrm>
            <a:off x="548640" y="3584448"/>
            <a:ext cx="5577840" cy="640080"/>
          </a:xfrm>
          <a:prstGeom prst="rect">
            <a:avLst/>
          </a:prstGeom>
          <a:noFill/>
          <a:ln/>
        </p:spPr>
        <p:txBody>
          <a:bodyPr wrap="square" lIns="0" tIns="0" rIns="0" bIns="0" rtlCol="0" anchor="ctr"/>
          <a:lstStyle/>
          <a:p>
            <a:pPr indent="0" marL="0">
              <a:lnSpc>
                <a:spcPts val="1250"/>
              </a:lnSpc>
              <a:buNone/>
            </a:pPr>
            <a:r>
              <a:rPr lang="en-US" sz="950" i="1" dirty="0">
                <a:solidFill>
                  <a:srgbClr val="8A9BB8"/>
                </a:solidFill>
                <a:latin typeface="Calibri" pitchFamily="34" charset="0"/>
                <a:ea typeface="Calibri" pitchFamily="34" charset="-122"/>
                <a:cs typeface="Calibri" pitchFamily="34" charset="-120"/>
              </a:rPr>
              <a:t>CRITICAL’s 100% rests on an empty cell — no clean account in the sample reached it, so there are no observed false positives. The honest floor is 20%. Stated rather than quoted.</a:t>
            </a:r>
            <a:endParaRPr lang="en-US" sz="950" dirty="0"/>
          </a:p>
        </p:txBody>
      </p:sp>
      <p:sp>
        <p:nvSpPr>
          <p:cNvPr id="7" name="Shape 4"/>
          <p:cNvSpPr/>
          <p:nvPr/>
        </p:nvSpPr>
        <p:spPr>
          <a:xfrm>
            <a:off x="548640" y="4315968"/>
            <a:ext cx="5577840" cy="1143000"/>
          </a:xfrm>
          <a:prstGeom prst="roundRect">
            <a:avLst>
              <a:gd name="adj" fmla="val 6400"/>
            </a:avLst>
          </a:prstGeom>
          <a:solidFill>
            <a:srgbClr val="1A2438"/>
          </a:solidFill>
          <a:ln w="12700">
            <a:solidFill>
              <a:srgbClr val="333333"/>
            </a:solidFill>
            <a:prstDash val="solid"/>
          </a:ln>
        </p:spPr>
      </p:sp>
      <p:sp>
        <p:nvSpPr>
          <p:cNvPr id="8" name="Text 5"/>
          <p:cNvSpPr/>
          <p:nvPr/>
        </p:nvSpPr>
        <p:spPr>
          <a:xfrm>
            <a:off x="777240" y="4498848"/>
            <a:ext cx="1188720" cy="502920"/>
          </a:xfrm>
          <a:prstGeom prst="rect">
            <a:avLst/>
          </a:prstGeom>
          <a:noFill/>
          <a:ln/>
        </p:spPr>
        <p:txBody>
          <a:bodyPr wrap="square" lIns="0" tIns="0" rIns="0" bIns="0" rtlCol="0" anchor="ctr"/>
          <a:lstStyle/>
          <a:p>
            <a:pPr algn="ctr" indent="0" marL="0">
              <a:buNone/>
            </a:pPr>
            <a:r>
              <a:rPr lang="en-US" sz="3000" b="1" dirty="0">
                <a:solidFill>
                  <a:srgbClr val="8A9BB8"/>
                </a:solidFill>
                <a:latin typeface="Cambria" pitchFamily="34" charset="0"/>
                <a:ea typeface="Cambria" pitchFamily="34" charset="-122"/>
                <a:cs typeface="Cambria" pitchFamily="34" charset="-120"/>
              </a:rPr>
              <a:t>7.2%</a:t>
            </a:r>
            <a:endParaRPr lang="en-US" sz="3000" dirty="0"/>
          </a:p>
        </p:txBody>
      </p:sp>
      <p:sp>
        <p:nvSpPr>
          <p:cNvPr id="9" name="Text 6"/>
          <p:cNvSpPr/>
          <p:nvPr/>
        </p:nvSpPr>
        <p:spPr>
          <a:xfrm>
            <a:off x="1965960" y="4553712"/>
            <a:ext cx="457200" cy="411480"/>
          </a:xfrm>
          <a:prstGeom prst="rect">
            <a:avLst/>
          </a:prstGeom>
          <a:noFill/>
          <a:ln/>
        </p:spPr>
        <p:txBody>
          <a:bodyPr wrap="square" lIns="0" tIns="0" rIns="0" bIns="0" rtlCol="0" anchor="ctr"/>
          <a:lstStyle/>
          <a:p>
            <a:pPr algn="ctr" indent="0" marL="0">
              <a:buNone/>
            </a:pPr>
            <a:r>
              <a:rPr lang="en-US" sz="2000" dirty="0">
                <a:solidFill>
                  <a:srgbClr val="8A9BB8"/>
                </a:solidFill>
                <a:latin typeface="Calibri" pitchFamily="34" charset="0"/>
                <a:ea typeface="Calibri" pitchFamily="34" charset="-122"/>
                <a:cs typeface="Calibri" pitchFamily="34" charset="-120"/>
              </a:rPr>
              <a:t>→</a:t>
            </a:r>
            <a:endParaRPr lang="en-US" sz="2000" dirty="0"/>
          </a:p>
        </p:txBody>
      </p:sp>
      <p:sp>
        <p:nvSpPr>
          <p:cNvPr id="10" name="Text 7"/>
          <p:cNvSpPr/>
          <p:nvPr/>
        </p:nvSpPr>
        <p:spPr>
          <a:xfrm>
            <a:off x="2377440" y="4498848"/>
            <a:ext cx="1280160" cy="502920"/>
          </a:xfrm>
          <a:prstGeom prst="rect">
            <a:avLst/>
          </a:prstGeom>
          <a:noFill/>
          <a:ln/>
        </p:spPr>
        <p:txBody>
          <a:bodyPr wrap="square" lIns="0" tIns="0" rIns="0" bIns="0" rtlCol="0" anchor="ctr"/>
          <a:lstStyle/>
          <a:p>
            <a:pPr algn="ctr" indent="0" marL="0">
              <a:buNone/>
            </a:pPr>
            <a:r>
              <a:rPr lang="en-US" sz="3000" b="1" dirty="0">
                <a:solidFill>
                  <a:srgbClr val="8FDBAA"/>
                </a:solidFill>
                <a:latin typeface="Cambria" pitchFamily="34" charset="0"/>
                <a:ea typeface="Cambria" pitchFamily="34" charset="-122"/>
                <a:cs typeface="Cambria" pitchFamily="34" charset="-120"/>
              </a:rPr>
              <a:t>66%</a:t>
            </a:r>
            <a:endParaRPr lang="en-US" sz="3000" dirty="0"/>
          </a:p>
        </p:txBody>
      </p:sp>
      <p:sp>
        <p:nvSpPr>
          <p:cNvPr id="11" name="Text 8"/>
          <p:cNvSpPr/>
          <p:nvPr/>
        </p:nvSpPr>
        <p:spPr>
          <a:xfrm>
            <a:off x="3749040" y="4517136"/>
            <a:ext cx="2240280" cy="77724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recall at HIGH+ after tuning the blend constants against an explicit objective</a:t>
            </a:r>
            <a:endParaRPr lang="en-US" sz="1050" dirty="0"/>
          </a:p>
        </p:txBody>
      </p:sp>
      <p:sp>
        <p:nvSpPr>
          <p:cNvPr id="12" name="Text 9"/>
          <p:cNvSpPr/>
          <p:nvPr/>
        </p:nvSpPr>
        <p:spPr>
          <a:xfrm>
            <a:off x="777240" y="5047488"/>
            <a:ext cx="2834640" cy="365760"/>
          </a:xfrm>
          <a:prstGeom prst="rect">
            <a:avLst/>
          </a:prstGeom>
          <a:noFill/>
          <a:ln/>
        </p:spPr>
        <p:txBody>
          <a:bodyPr wrap="square" lIns="0" tIns="0" rIns="0" bIns="0" rtlCol="0" anchor="ctr"/>
          <a:lstStyle/>
          <a:p>
            <a:pPr indent="0" marL="0">
              <a:lnSpc>
                <a:spcPts val="1200"/>
              </a:lnSpc>
              <a:buNone/>
            </a:pPr>
            <a:r>
              <a:rPr lang="en-US" sz="950" dirty="0">
                <a:solidFill>
                  <a:srgbClr val="8A9BB8"/>
                </a:solidFill>
                <a:latin typeface="Calibri" pitchFamily="34" charset="0"/>
                <a:ea typeface="Calibri" pitchFamily="34" charset="-122"/>
                <a:cs typeface="Calibri" pitchFamily="34" charset="-120"/>
              </a:rPr>
              <a:t>MEDIUM had held 62% of all accounts — a triage tier that sorted nothing.</a:t>
            </a:r>
            <a:endParaRPr lang="en-US" sz="950" dirty="0"/>
          </a:p>
        </p:txBody>
      </p:sp>
      <p:sp>
        <p:nvSpPr>
          <p:cNvPr id="13" name="Text 10"/>
          <p:cNvSpPr/>
          <p:nvPr/>
        </p:nvSpPr>
        <p:spPr>
          <a:xfrm>
            <a:off x="6446520" y="1572768"/>
            <a:ext cx="5120640" cy="274320"/>
          </a:xfrm>
          <a:prstGeom prst="rect">
            <a:avLst/>
          </a:prstGeom>
          <a:noFill/>
          <a:ln/>
        </p:spPr>
        <p:txBody>
          <a:bodyPr wrap="square" lIns="0" tIns="0" rIns="0" bIns="0" rtlCol="0" anchor="ctr"/>
          <a:lstStyle/>
          <a:p>
            <a:pPr indent="0" marL="0">
              <a:buNone/>
            </a:pPr>
            <a:r>
              <a:rPr lang="en-US" sz="1050" b="1" spc="150" kern="0" dirty="0">
                <a:solidFill>
                  <a:srgbClr val="8A9BB8"/>
                </a:solidFill>
                <a:latin typeface="Calibri" pitchFamily="34" charset="0"/>
                <a:ea typeface="Calibri" pitchFamily="34" charset="-122"/>
                <a:cs typeface="Calibri" pitchFamily="34" charset="-120"/>
              </a:rPr>
              <a:t>WHAT MAKES IT STAND OUT</a:t>
            </a:r>
            <a:endParaRPr lang="en-US" sz="1050" dirty="0"/>
          </a:p>
        </p:txBody>
      </p:sp>
      <p:sp>
        <p:nvSpPr>
          <p:cNvPr id="14" name="Shape 11"/>
          <p:cNvSpPr/>
          <p:nvPr/>
        </p:nvSpPr>
        <p:spPr>
          <a:xfrm>
            <a:off x="6446520" y="1984248"/>
            <a:ext cx="274320" cy="274320"/>
          </a:xfrm>
          <a:prstGeom prst="ellipse">
            <a:avLst/>
          </a:prstGeom>
          <a:solidFill>
            <a:srgbClr val="E4645C"/>
          </a:solidFill>
          <a:ln w="12700">
            <a:solidFill>
              <a:srgbClr val="333333"/>
            </a:solidFill>
            <a:prstDash val="solid"/>
          </a:ln>
        </p:spPr>
      </p:sp>
      <p:sp>
        <p:nvSpPr>
          <p:cNvPr id="15" name="Text 12"/>
          <p:cNvSpPr/>
          <p:nvPr/>
        </p:nvSpPr>
        <p:spPr>
          <a:xfrm>
            <a:off x="6446520" y="19842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3"/>
          <p:cNvSpPr/>
          <p:nvPr/>
        </p:nvSpPr>
        <p:spPr>
          <a:xfrm>
            <a:off x="6858000" y="1956816"/>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Adaptive, and visible</a:t>
            </a:r>
            <a:endParaRPr lang="en-US" sz="1350" dirty="0"/>
          </a:p>
        </p:txBody>
      </p:sp>
      <p:sp>
        <p:nvSpPr>
          <p:cNvPr id="17" name="Text 14"/>
          <p:cNvSpPr/>
          <p:nvPr/>
        </p:nvSpPr>
        <p:spPr>
          <a:xfrm>
            <a:off x="6858000" y="2249424"/>
            <a:ext cx="4754880" cy="68580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A different tool chain per question, with the tools it skipped and why shown in the UI.</a:t>
            </a:r>
            <a:endParaRPr lang="en-US" sz="1000" dirty="0"/>
          </a:p>
        </p:txBody>
      </p:sp>
      <p:sp>
        <p:nvSpPr>
          <p:cNvPr id="18" name="Shape 15"/>
          <p:cNvSpPr/>
          <p:nvPr/>
        </p:nvSpPr>
        <p:spPr>
          <a:xfrm>
            <a:off x="6446520" y="3026664"/>
            <a:ext cx="274320" cy="274320"/>
          </a:xfrm>
          <a:prstGeom prst="ellipse">
            <a:avLst/>
          </a:prstGeom>
          <a:solidFill>
            <a:srgbClr val="E4645C"/>
          </a:solidFill>
          <a:ln w="12700">
            <a:solidFill>
              <a:srgbClr val="333333"/>
            </a:solidFill>
            <a:prstDash val="solid"/>
          </a:ln>
        </p:spPr>
      </p:sp>
      <p:sp>
        <p:nvSpPr>
          <p:cNvPr id="19" name="Text 16"/>
          <p:cNvSpPr/>
          <p:nvPr/>
        </p:nvSpPr>
        <p:spPr>
          <a:xfrm>
            <a:off x="6446520" y="30266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7"/>
          <p:cNvSpPr/>
          <p:nvPr/>
        </p:nvSpPr>
        <p:spPr>
          <a:xfrm>
            <a:off x="6858000" y="2999232"/>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Weights are measured</a:t>
            </a:r>
            <a:endParaRPr lang="en-US" sz="1350" dirty="0"/>
          </a:p>
        </p:txBody>
      </p:sp>
      <p:sp>
        <p:nvSpPr>
          <p:cNvPr id="21" name="Text 18"/>
          <p:cNvSpPr/>
          <p:nvPr/>
        </p:nvSpPr>
        <p:spPr>
          <a:xfrm>
            <a:off x="6858000" y="3291840"/>
            <a:ext cx="4754880" cy="68580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Rule weights come from observed precision shrunk by a Wilson lower bound, so a rule seen 15 times cannot outrank one seen 1,736 times.</a:t>
            </a:r>
            <a:endParaRPr lang="en-US" sz="1000" dirty="0"/>
          </a:p>
        </p:txBody>
      </p:sp>
      <p:sp>
        <p:nvSpPr>
          <p:cNvPr id="22" name="Shape 19"/>
          <p:cNvSpPr/>
          <p:nvPr/>
        </p:nvSpPr>
        <p:spPr>
          <a:xfrm>
            <a:off x="6446520" y="4069080"/>
            <a:ext cx="274320" cy="274320"/>
          </a:xfrm>
          <a:prstGeom prst="ellipse">
            <a:avLst/>
          </a:prstGeom>
          <a:solidFill>
            <a:srgbClr val="E4645C"/>
          </a:solidFill>
          <a:ln w="12700">
            <a:solidFill>
              <a:srgbClr val="333333"/>
            </a:solidFill>
            <a:prstDash val="solid"/>
          </a:ln>
        </p:spPr>
      </p:sp>
      <p:sp>
        <p:nvSpPr>
          <p:cNvPr id="23" name="Text 20"/>
          <p:cNvSpPr/>
          <p:nvPr/>
        </p:nvSpPr>
        <p:spPr>
          <a:xfrm>
            <a:off x="6446520" y="4069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1"/>
          <p:cNvSpPr/>
          <p:nvPr/>
        </p:nvSpPr>
        <p:spPr>
          <a:xfrm>
            <a:off x="6858000" y="4041648"/>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Explanations cite the rule</a:t>
            </a:r>
            <a:endParaRPr lang="en-US" sz="1350" dirty="0"/>
          </a:p>
        </p:txBody>
      </p:sp>
      <p:sp>
        <p:nvSpPr>
          <p:cNvPr id="25" name="Text 22"/>
          <p:cNvSpPr/>
          <p:nvPr/>
        </p:nvSpPr>
        <p:spPr>
          <a:xfrm>
            <a:off x="6858000" y="4334256"/>
            <a:ext cx="4754880" cy="68580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Template text bound to the firing motif and its real evidence values, never model-generated prose.</a:t>
            </a:r>
            <a:endParaRPr lang="en-US" sz="1000" dirty="0"/>
          </a:p>
        </p:txBody>
      </p:sp>
      <p:sp>
        <p:nvSpPr>
          <p:cNvPr id="26" name="Shape 23"/>
          <p:cNvSpPr/>
          <p:nvPr/>
        </p:nvSpPr>
        <p:spPr>
          <a:xfrm>
            <a:off x="6446520" y="5111496"/>
            <a:ext cx="274320" cy="274320"/>
          </a:xfrm>
          <a:prstGeom prst="ellipse">
            <a:avLst/>
          </a:prstGeom>
          <a:solidFill>
            <a:srgbClr val="E4645C"/>
          </a:solidFill>
          <a:ln w="12700">
            <a:solidFill>
              <a:srgbClr val="333333"/>
            </a:solidFill>
            <a:prstDash val="solid"/>
          </a:ln>
        </p:spPr>
      </p:sp>
      <p:sp>
        <p:nvSpPr>
          <p:cNvPr id="27" name="Text 24"/>
          <p:cNvSpPr/>
          <p:nvPr/>
        </p:nvSpPr>
        <p:spPr>
          <a:xfrm>
            <a:off x="6446520" y="51114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5"/>
          <p:cNvSpPr/>
          <p:nvPr/>
        </p:nvSpPr>
        <p:spPr>
          <a:xfrm>
            <a:off x="6858000" y="5084064"/>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Findings survive the model</a:t>
            </a:r>
            <a:endParaRPr lang="en-US" sz="1350" dirty="0"/>
          </a:p>
        </p:txBody>
      </p:sp>
      <p:sp>
        <p:nvSpPr>
          <p:cNvPr id="29" name="Text 26"/>
          <p:cNvSpPr/>
          <p:nvPr/>
        </p:nvSpPr>
        <p:spPr>
          <a:xfrm>
            <a:off x="6858000" y="5376672"/>
            <a:ext cx="4754880" cy="685800"/>
          </a:xfrm>
          <a:prstGeom prst="rect">
            <a:avLst/>
          </a:prstGeom>
          <a:noFill/>
          <a:ln/>
        </p:spPr>
        <p:txBody>
          <a:bodyPr wrap="square" lIns="0" tIns="0" rIns="0" bIns="0" rtlCol="0" anchor="ctr"/>
          <a:lstStyle/>
          <a:p>
            <a:pPr indent="0" marL="0">
              <a:lnSpc>
                <a:spcPts val="1300"/>
              </a:lnSpc>
              <a:buNone/>
            </a:pPr>
            <a:r>
              <a:rPr lang="en-US" sz="1000" dirty="0">
                <a:solidFill>
                  <a:srgbClr val="8A9BB8"/>
                </a:solidFill>
                <a:latin typeface="Calibri" pitchFamily="34" charset="0"/>
                <a:ea typeface="Calibri" pitchFamily="34" charset="-122"/>
                <a:cs typeface="Calibri" pitchFamily="34" charset="-120"/>
              </a:rPr>
              <a:t>Flags are rebuilt server-side from tool output, so a summary can never describe a CRITICAL account and leave the table empty.</a:t>
            </a:r>
            <a:endParaRPr lang="en-US" sz="1000" dirty="0"/>
          </a:p>
        </p:txBody>
      </p:sp>
      <p:sp>
        <p:nvSpPr>
          <p:cNvPr id="30" name="Text 27"/>
          <p:cNvSpPr/>
          <p:nvPr/>
        </p:nvSpPr>
        <p:spPr>
          <a:xfrm>
            <a:off x="548640" y="6053328"/>
            <a:ext cx="11064240" cy="274320"/>
          </a:xfrm>
          <a:prstGeom prst="rect">
            <a:avLst/>
          </a:prstGeom>
          <a:noFill/>
          <a:ln/>
        </p:spPr>
        <p:txBody>
          <a:bodyPr wrap="square" lIns="0" tIns="0" rIns="0" bIns="0" rtlCol="0" anchor="ctr"/>
          <a:lstStyle/>
          <a:p>
            <a:pPr indent="0" marL="0">
              <a:buNone/>
            </a:pPr>
            <a:r>
              <a:rPr lang="en-US" sz="1050" i="1" dirty="0">
                <a:solidFill>
                  <a:srgbClr val="8A9BB8"/>
                </a:solidFill>
                <a:latin typeface="Calibri" pitchFamily="34" charset="0"/>
                <a:ea typeface="Calibri" pitchFamily="34" charset="-122"/>
                <a:cs typeface="Calibri" pitchFamily="34" charset="-120"/>
              </a:rPr>
              <a:t>Isolation Forest + LOF + z-score, blended by measured lift (0.64 / 0.30 / 0.05) · 8 graph motifs precomputed over 1.0M edges · SQLite audit trail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2026-07-26T18:22:34Z</dcterms:created>
  <dcterms:modified xsi:type="dcterms:W3CDTF">2026-07-26T18:22:34Z</dcterms:modified>
</cp:coreProperties>
</file>